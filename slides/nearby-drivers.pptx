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Abre com a promessa do sistema: dado um embarque, achar o motorista livre que chega antes e dizer em quanto tempo. Os quatro nomes embaixo são as aplicações. O desenho é o embarque no centro e motoristas ao redor, ligados pelas ruas.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corrida termina em motorista atribuído. Não há acompanhamento da viagem neste sistema: o sucesso é o passageiro saber quem está a caminho e qual ETA foi prometido.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Ride é a dona do estado. Driver responde quem está perto. Matching só monta o ranking. Routing só devolve tempo e distância. Ride e driver ficam em uma instância: cada um guarda estado. Matching sobe de 1 a 3 e routing de 2 a 4 quando a CPU passa de 60%.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/rides responde 202 em REQUESTED. O matching consome rides.requested, chama nearby e depois eta em lote, e publica o ranking. O ride reserva o primeiro livre e publica rides.assigned. O driver marca o motorista como em corrida.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há chamada REST desta aplicação para as outras. A outbox garante que o evento rides.requested existe junto com a corrida. A reserva rápida no Redis falha cedo; a garantia final é o índice único de motorista atribuído no Postgres.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Estados: REQUESTED, MATCHING, DRIVER_ASSIGNED. Terminais de falha: CANCELLED e NO_DRIVER_AVAILABLE. Se o motorista reservado para de mandar heartbeat, a corrida volta a MATCHING, publica release e um novo requested sem aquele motorista. RIDE_MAX_ATTEMPTS padrão é 3. Rematch conta como tentativa.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Disponível significa status AVAILABLE, heartbeat nos últimos 30 segundos e não reservado. O bit vive no slot em memória, então um app que morreu sai da busca sem UPDATE no Postgres. PUT /location com seq menor ou igual é ignorado. No boot, o replay dos últimos 5 minutos de drivers.location reconstitui as posições.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árvore é 2D sobre metros locais, para o corte não distorcer com a latitude. A distância devolvida ao chamador é Haversine. O writer atualiza o slot e anexa um delta. Um rebuild em background publica outro snapshot. Índice ainda não publicado responde 503, o mesmo sinal do readyz.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Política NearestETA: ordena por ETA, depois por distância, depois por id. exclude_driver_ids tira da lista quem já sumiu nesta corrida. Sem candidato: match-failed no_candidate. Ninguém alcançável: none_reachable. O ack no Kafka só sai depois de publicar o resultado. Redis deduplica event_id por 1 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Boot monta o grafo CSR, o grafo reverso e a KD-Tree dos nós para snapping. readyz só fica verde depois disso. Pool de buffers esgotado responde 503 com Retry-After. Não usa Redis nem banco. Não há Kafka. O único chamador é o matching, pela rede interna.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um Dijkstra no grafo reverso, peso duration_s, distância acumulada junto. Uma busca a partir do nó do embarque, não K rotas. Para quando as origens foram assentadas ou a distância passa de max_radius_m. Coordenada vira o nó mais próximo por snapping. O nome na resposta é dijkstra-one-to-many.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HAVERSINE_SPEED_MPS padrão é 8,33 m/s, 30 km/h. engine haversine-fallback. Falha de routing não vira NO_DRIVER_AVAILABLE. O circuit breaker abre após 5 falhas seguidas e entra em meia-abertura em 10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cluster: ride 1, driver 1, matching de 1 a 3, routing de 2 a 4. O autoscaler olha 60% de CPU e sobe um pod a cada 30 segundos. Kafka: rides por 7 dias, localização por 5 minutos, presença por 1 hora. Redis sem persistência: só TTL. Postgres 17 com schemas ride e driver separados.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Ride e driver: uma instância. O índice espacial do driver vive naquele processo. Matching de 1 a 3, uma cópia por partição do pedido. Routing de 2 a 4, sem estado. Redis guarda idempotência por 24 h, reserva por 30 s, última posição por 60 s e dedup de evento por 1 h. Nada disso é a garantia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Idempotency-Key no POST /rides. attempt descarta ranking de tentativa antiga. seq descarta GPS atrasado. rides.released só libera se o ride_id for o da reserva atual. Segundo lost da mesma corrida não transiciona de novo, pela version otimista.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 repetindo a promessa do começo. Se perguntarem o que o passageiro vê: o motorista atribuído, o ETA e a distância. Se o mapa estava fora, o ETA vem marcado como estimativa em linha 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4652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5D0DB"/>
                </a:solidFill>
                <a:latin typeface="Arial"/>
              </a:rPr>
              <a:t>nearby-drivers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644652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5D0DB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20">
                <a:solidFill>
                  <a:srgbClr val="E09A2B"/>
                </a:solidFill>
                <a:latin typeface="Arial"/>
              </a:rPr>
              <a:t>SISTEMA DE CORRIDA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783080"/>
            <a:ext cx="7315200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FFFCF8"/>
                </a:solidFill>
                <a:latin typeface="Georgia"/>
              </a:rPr>
              <a:t>nearby-drivers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26080"/>
            <a:ext cx="6583680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C5D0DB"/>
                </a:solidFill>
                <a:latin typeface="Georgia"/>
              </a:rPr>
              <a:t>O motorista disponível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C5D0DB"/>
                </a:solidFill>
                <a:latin typeface="Georgia"/>
              </a:rPr>
              <a:t>mais próximo do embarque.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434840"/>
            <a:ext cx="1234440" cy="41148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4800600"/>
            <a:ext cx="128016" cy="128016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7365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CF8"/>
                </a:solidFill>
                <a:latin typeface="Arial"/>
              </a:rPr>
              <a:t>ride</a:t>
            </a:r>
          </a:p>
        </p:txBody>
      </p:sp>
      <p:sp>
        <p:nvSpPr>
          <p:cNvPr id="11" name="Oval 10"/>
          <p:cNvSpPr/>
          <p:nvPr/>
        </p:nvSpPr>
        <p:spPr>
          <a:xfrm>
            <a:off x="2404872" y="4800600"/>
            <a:ext cx="128016" cy="128016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5" y="47365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CF8"/>
                </a:solidFill>
                <a:latin typeface="Arial"/>
              </a:rPr>
              <a:t>driver</a:t>
            </a:r>
          </a:p>
        </p:txBody>
      </p:sp>
      <p:sp>
        <p:nvSpPr>
          <p:cNvPr id="13" name="Oval 12"/>
          <p:cNvSpPr/>
          <p:nvPr/>
        </p:nvSpPr>
        <p:spPr>
          <a:xfrm>
            <a:off x="4096512" y="4800600"/>
            <a:ext cx="128016" cy="128016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47365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CF8"/>
                </a:solidFill>
                <a:latin typeface="Arial"/>
              </a:rPr>
              <a:t>matching</a:t>
            </a:r>
          </a:p>
        </p:txBody>
      </p:sp>
      <p:sp>
        <p:nvSpPr>
          <p:cNvPr id="15" name="Oval 14"/>
          <p:cNvSpPr/>
          <p:nvPr/>
        </p:nvSpPr>
        <p:spPr>
          <a:xfrm>
            <a:off x="5788152" y="4800600"/>
            <a:ext cx="128016" cy="128016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25896" y="47365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CF8"/>
                </a:solidFill>
                <a:latin typeface="Arial"/>
              </a:rPr>
              <a:t>routing</a:t>
            </a:r>
          </a:p>
        </p:txBody>
      </p:sp>
      <p:sp>
        <p:nvSpPr>
          <p:cNvPr id="17" name="Oval 16"/>
          <p:cNvSpPr/>
          <p:nvPr/>
        </p:nvSpPr>
        <p:spPr>
          <a:xfrm>
            <a:off x="8604504" y="2066543"/>
            <a:ext cx="2468880" cy="2468880"/>
          </a:xfrm>
          <a:prstGeom prst="ellipse">
            <a:avLst/>
          </a:prstGeom>
          <a:noFill/>
          <a:ln w="15875">
            <a:solidFill>
              <a:srgbClr val="E0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238744" y="2066543"/>
            <a:ext cx="1371600" cy="640080"/>
          </a:xfrm>
          <a:prstGeom prst="line">
            <a:avLst/>
          </a:prstGeom>
          <a:ln w="19050">
            <a:solidFill>
              <a:srgbClr val="3E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421624" y="2706623"/>
            <a:ext cx="1188720" cy="914400"/>
          </a:xfrm>
          <a:prstGeom prst="line">
            <a:avLst/>
          </a:prstGeom>
          <a:ln w="19050">
            <a:solidFill>
              <a:srgbClr val="3E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421624" y="3346703"/>
            <a:ext cx="1463040" cy="274320"/>
          </a:xfrm>
          <a:prstGeom prst="line">
            <a:avLst/>
          </a:prstGeom>
          <a:ln w="19050">
            <a:solidFill>
              <a:srgbClr val="3E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147304" y="4718304"/>
            <a:ext cx="1645920" cy="182880"/>
          </a:xfrm>
          <a:prstGeom prst="line">
            <a:avLst/>
          </a:prstGeom>
          <a:ln w="19050">
            <a:solidFill>
              <a:srgbClr val="3E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10344" y="2706623"/>
            <a:ext cx="274320" cy="640080"/>
          </a:xfrm>
          <a:prstGeom prst="line">
            <a:avLst/>
          </a:prstGeom>
          <a:ln w="19050">
            <a:solidFill>
              <a:srgbClr val="3E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793224" y="3346703"/>
            <a:ext cx="91440" cy="1371601"/>
          </a:xfrm>
          <a:prstGeom prst="line">
            <a:avLst/>
          </a:prstGeom>
          <a:ln w="19050">
            <a:solidFill>
              <a:srgbClr val="3E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884664" y="2295144"/>
            <a:ext cx="1280160" cy="1051559"/>
          </a:xfrm>
          <a:prstGeom prst="line">
            <a:avLst/>
          </a:prstGeom>
          <a:ln w="19050">
            <a:solidFill>
              <a:srgbClr val="3E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84664" y="3346703"/>
            <a:ext cx="1417320" cy="548641"/>
          </a:xfrm>
          <a:prstGeom prst="line">
            <a:avLst/>
          </a:prstGeom>
          <a:ln w="19050">
            <a:solidFill>
              <a:srgbClr val="3E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93224" y="4718304"/>
            <a:ext cx="1188720" cy="502920"/>
          </a:xfrm>
          <a:prstGeom prst="line">
            <a:avLst/>
          </a:prstGeom>
          <a:ln w="19050">
            <a:solidFill>
              <a:srgbClr val="3E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981944" y="3895344"/>
            <a:ext cx="320040" cy="1325880"/>
          </a:xfrm>
          <a:prstGeom prst="line">
            <a:avLst/>
          </a:prstGeom>
          <a:ln w="19050">
            <a:solidFill>
              <a:srgbClr val="3E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164824" y="2295144"/>
            <a:ext cx="137160" cy="1600200"/>
          </a:xfrm>
          <a:prstGeom prst="line">
            <a:avLst/>
          </a:prstGeom>
          <a:ln w="19050">
            <a:solidFill>
              <a:srgbClr val="3E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138160" y="1965960"/>
            <a:ext cx="201168" cy="201168"/>
          </a:xfrm>
          <a:prstGeom prst="ellipse">
            <a:avLst/>
          </a:prstGeom>
          <a:solidFill>
            <a:srgbClr val="D5E2E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21040" y="3520439"/>
            <a:ext cx="201168" cy="201168"/>
          </a:xfrm>
          <a:prstGeom prst="ellipse">
            <a:avLst/>
          </a:prstGeom>
          <a:solidFill>
            <a:srgbClr val="D5E2E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46720" y="4800600"/>
            <a:ext cx="201168" cy="201168"/>
          </a:xfrm>
          <a:prstGeom prst="ellipse">
            <a:avLst/>
          </a:prstGeom>
          <a:solidFill>
            <a:srgbClr val="D5E2E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09760" y="2606039"/>
            <a:ext cx="201168" cy="201168"/>
          </a:xfrm>
          <a:prstGeom prst="ellipse">
            <a:avLst/>
          </a:prstGeom>
          <a:solidFill>
            <a:srgbClr val="D5E2E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92640" y="4617720"/>
            <a:ext cx="201168" cy="201168"/>
          </a:xfrm>
          <a:prstGeom prst="ellipse">
            <a:avLst/>
          </a:prstGeom>
          <a:solidFill>
            <a:srgbClr val="D5E2E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064240" y="2194560"/>
            <a:ext cx="201168" cy="201168"/>
          </a:xfrm>
          <a:prstGeom prst="ellipse">
            <a:avLst/>
          </a:prstGeom>
          <a:solidFill>
            <a:srgbClr val="D5E2E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201400" y="3794760"/>
            <a:ext cx="201168" cy="201168"/>
          </a:xfrm>
          <a:prstGeom prst="ellipse">
            <a:avLst/>
          </a:prstGeom>
          <a:solidFill>
            <a:srgbClr val="D5E2E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81360" y="5120640"/>
            <a:ext cx="201168" cy="201168"/>
          </a:xfrm>
          <a:prstGeom prst="ellipse">
            <a:avLst/>
          </a:prstGeom>
          <a:solidFill>
            <a:srgbClr val="D5E2E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01200" y="3063239"/>
            <a:ext cx="475488" cy="475488"/>
          </a:xfrm>
          <a:prstGeom prst="ellipse">
            <a:avLst/>
          </a:prstGeom>
          <a:solidFill>
            <a:srgbClr val="E09A2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20072" y="3182112"/>
            <a:ext cx="237744" cy="237744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O QUE O PASSAGEIRO PEDE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10972800" cy="3017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0F1C2E"/>
                </a:solidFill>
                <a:latin typeface="Georgia"/>
              </a:rPr>
              <a:t>Um ponto de embarque.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0F1C2E"/>
                </a:solidFill>
                <a:latin typeface="Georgia"/>
              </a:rPr>
              <a:t>O motorista livre que chega antes.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0F1C2E"/>
                </a:solidFill>
                <a:latin typeface="Georgia"/>
              </a:rPr>
              <a:t>Quem vem, e em quanto tempo.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4709160"/>
            <a:ext cx="1051560" cy="36576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4937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C6A7A"/>
                </a:solidFill>
                <a:latin typeface="Arial"/>
              </a:rPr>
              <a:t>A corrida termina quando isso está respondido.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AS APLICAÇÕES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8368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0F1C2E"/>
                </a:solidFill>
                <a:latin typeface="Georgia"/>
              </a:rPr>
              <a:t>Quatro trabalhos, quatro donos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A7A"/>
                </a:solidFill>
                <a:latin typeface="Arial"/>
              </a:rPr>
              <a:t>Nenhuma aplicação faz o trabalho da outra.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57400"/>
            <a:ext cx="5257800" cy="1920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313432"/>
            <a:ext cx="64008" cy="1408176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258568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E09A2B"/>
                </a:solidFill>
                <a:latin typeface="Arial"/>
              </a:rPr>
              <a:t>RIDE-SERVICE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532888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F1C2E"/>
                </a:solidFill>
                <a:latin typeface="Georgia"/>
              </a:rPr>
              <a:t>A corrida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44952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Cria o pedido, guarda o estado e confirma o motorista.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57530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A7A"/>
                </a:solidFill>
                <a:latin typeface="Arial"/>
              </a:rPr>
              <a:t>1 instância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057400"/>
            <a:ext cx="5257800" cy="1920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6248" y="2313432"/>
            <a:ext cx="64008" cy="1408176"/>
          </a:xfrm>
          <a:prstGeom prst="rect">
            <a:avLst/>
          </a:prstGeom>
          <a:solidFill>
            <a:srgbClr val="1C7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75704" y="2258568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1C7466"/>
                </a:solidFill>
                <a:latin typeface="Arial"/>
              </a:rPr>
              <a:t>DRIVER-SERVICE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2532888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F1C2E"/>
                </a:solidFill>
                <a:latin typeface="Georgia"/>
              </a:rPr>
              <a:t>A posição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5704" y="3044952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Sabe quais motoristas estão perto e disponíveis.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357530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A7A"/>
                </a:solidFill>
                <a:latin typeface="Arial"/>
              </a:rPr>
              <a:t>1 instância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60520"/>
            <a:ext cx="5257800" cy="1920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" y="4416552"/>
            <a:ext cx="64008" cy="1408176"/>
          </a:xfrm>
          <a:prstGeom prst="rect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361688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1A324A"/>
                </a:solidFill>
                <a:latin typeface="Arial"/>
              </a:rPr>
              <a:t>MATCHING-SERVICE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636008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F1C2E"/>
                </a:solidFill>
                <a:latin typeface="Georgia"/>
              </a:rPr>
              <a:t>A lista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5148072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Ordena os candidatos por quem chega antes.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67842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A7A"/>
                </a:solidFill>
                <a:latin typeface="Arial"/>
              </a:rPr>
              <a:t>de 1 a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160520"/>
            <a:ext cx="5257800" cy="1920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56248" y="4416552"/>
            <a:ext cx="64008" cy="1408176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75704" y="4361688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C45C4A"/>
                </a:solidFill>
                <a:latin typeface="Arial"/>
              </a:rPr>
              <a:t>ROUTING-SERVICE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5704" y="4636008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F1C2E"/>
                </a:solidFill>
                <a:latin typeface="Georgia"/>
              </a:rPr>
              <a:t>O tempo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5704" y="5148072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Calcula quanto cada um leva pelas ruas.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567842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A7A"/>
                </a:solidFill>
                <a:latin typeface="Arial"/>
              </a:rPr>
              <a:t>de 2 a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O CAMINHO DE UMA CORRIDA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8368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0F1C2E"/>
                </a:solidFill>
                <a:latin typeface="Georgia"/>
              </a:rPr>
              <a:t>O aceite não espera a busca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81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A7A"/>
                </a:solidFill>
                <a:latin typeface="Arial"/>
              </a:rPr>
              <a:t>O passageiro recebe a confirmação na hora. O resto acontece por mensagens.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48840"/>
            <a:ext cx="2084831" cy="37947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3172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E09A2B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632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Aceita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657600"/>
            <a:ext cx="1737360" cy="1737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A corrida entra no banco e a resposta sai na hora.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148840"/>
            <a:ext cx="2084831" cy="37947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233172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E09A2B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0632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Procura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44" y="3657600"/>
            <a:ext cx="1737360" cy="1737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Motoristas livres num raio de 3 km.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148840"/>
            <a:ext cx="2084831" cy="37947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33172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E09A2B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0632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Mede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737360" cy="1737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O tempo de cada um até o embarque.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0336" y="2148840"/>
            <a:ext cx="2084831" cy="37947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33172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E09A2B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5" y="30632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Reserva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5" y="3657600"/>
            <a:ext cx="1737360" cy="1737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O primeiro que ainda está livre.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91472" y="2148840"/>
            <a:ext cx="2084831" cy="37947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74351" y="233172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E09A2B"/>
                </a:solidFill>
                <a:latin typeface="Georg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1" y="30632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Entrega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1" y="3657600"/>
            <a:ext cx="1737360" cy="1737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Quem vem, e em quanto tempo.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APLICAÇÃO 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8368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0F1C2E"/>
                </a:solidFill>
                <a:latin typeface="Georgia"/>
              </a:rPr>
              <a:t>ride-service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C6A7A"/>
                </a:solidFill>
                <a:latin typeface="Arial"/>
              </a:rPr>
              <a:t>A única que pode criar, atribuir ou cancelar uma corrida.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5740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50008"/>
            <a:ext cx="64008" cy="69494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258568"/>
            <a:ext cx="101498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F1C2E"/>
                </a:solidFill>
                <a:latin typeface="Georgia"/>
              </a:rPr>
              <a:t>Responde na hora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9748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Confirma o pedido antes de procurar o motorista. O passageiro não fica preso na busca.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472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67328"/>
            <a:ext cx="64008" cy="69494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675887"/>
            <a:ext cx="101498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F1C2E"/>
                </a:solidFill>
                <a:latin typeface="Georgia"/>
              </a:rPr>
              <a:t>Estado no banco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A corrida e o aviso saem na mesma transação. Se o processo cair no meio, o aviso é reenviado.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9204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184648"/>
            <a:ext cx="64008" cy="69494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093207"/>
            <a:ext cx="101498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F1C2E"/>
                </a:solidFill>
                <a:latin typeface="Georgia"/>
              </a:rPr>
              <a:t>Ela decide de verdade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3212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O matching sugere uma lista. Aqui se vê se o motorista ainda está livre e se grava o resultado.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RIDE-SERVICE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8368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0F1C2E"/>
                </a:solidFill>
                <a:latin typeface="Georgia"/>
              </a:rPr>
              <a:t>A vida de uma corrida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7755" y="1737360"/>
            <a:ext cx="3063240" cy="23317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3787" y="1993392"/>
            <a:ext cx="384048" cy="50292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3787" y="2176272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F1C2E"/>
                </a:solidFill>
                <a:latin typeface="Georgia"/>
              </a:rPr>
              <a:t>Pedido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787" y="2743200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A corrida já existe no banco.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7299" y="251460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E09A2B"/>
                </a:solidFill>
                <a:latin typeface="Georgia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64227" y="1737360"/>
            <a:ext cx="3063240" cy="23317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20259" y="1993392"/>
            <a:ext cx="384048" cy="50292"/>
          </a:xfrm>
          <a:prstGeom prst="rect">
            <a:avLst/>
          </a:prstGeom>
          <a:solidFill>
            <a:srgbClr val="1C7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0259" y="2176272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F1C2E"/>
                </a:solidFill>
                <a:latin typeface="Georgia"/>
              </a:rPr>
              <a:t>Buscando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0259" y="2743200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A lista de motoristas está sendo montada.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3771" y="251460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E09A2B"/>
                </a:solidFill>
                <a:latin typeface="Georgia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0699" y="1737360"/>
            <a:ext cx="3063240" cy="23317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6731" y="1993392"/>
            <a:ext cx="384048" cy="50292"/>
          </a:xfrm>
          <a:prstGeom prst="rect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6731" y="2176272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F1C2E"/>
                </a:solidFill>
                <a:latin typeface="Georgia"/>
              </a:rPr>
              <a:t>A caminho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6731" y="2743200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O passageiro sabe quem vem e o tempo.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34340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572000"/>
            <a:ext cx="146304" cy="146304"/>
          </a:xfrm>
          <a:prstGeom prst="ellipse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498848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C2E"/>
                </a:solidFill>
                <a:latin typeface="Arial"/>
              </a:rPr>
              <a:t>Cancelada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983480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O passageiro pode sair enquanto espera.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34340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53712" y="4572000"/>
            <a:ext cx="146304" cy="146304"/>
          </a:xfrm>
          <a:prstGeom prst="ellipse">
            <a:avLst/>
          </a:prstGeom>
          <a:solidFill>
            <a:srgbClr val="5C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4498848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C2E"/>
                </a:solidFill>
                <a:latin typeface="Arial"/>
              </a:rPr>
              <a:t>Sem motorista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983480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Ninguém no raio, ou a lista já foi toda reservada.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8432" y="434340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84464" y="4572000"/>
            <a:ext cx="146304" cy="146304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58784" y="4498848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C2E"/>
                </a:solidFill>
                <a:latin typeface="Arial"/>
              </a:rPr>
              <a:t>Motorista sumiu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4983480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A busca recomeça sem ele. No máximo, 3 vezes.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APLICAÇÃO 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8368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0F1C2E"/>
                </a:solidFill>
                <a:latin typeface="Georgia"/>
              </a:rPr>
              <a:t>driver-service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44752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A7A"/>
                </a:solidFill>
                <a:latin typeface="Arial"/>
              </a:rPr>
              <a:t>Cadastro no banco. Posição na memória. Não escolhe motorista.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6596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267712"/>
            <a:ext cx="64008" cy="1371600"/>
          </a:xfrm>
          <a:prstGeom prst="rect">
            <a:avLst/>
          </a:prstGeom>
          <a:solidFill>
            <a:srgbClr val="1C7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176272"/>
            <a:ext cx="47091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F1C2E"/>
                </a:solidFill>
                <a:latin typeface="Georgia"/>
              </a:rPr>
              <a:t>Cadastro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74320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Muda pouco: nome, placa, classe, status. Fica no PostgreSQL e não pode se perder.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96596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2267712"/>
            <a:ext cx="64008" cy="13716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2" y="2176272"/>
            <a:ext cx="47091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F1C2E"/>
                </a:solidFill>
                <a:latin typeface="Georgia"/>
              </a:rPr>
              <a:t>Posição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74320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Chega o tempo todo. Latitude, longitude e um número de sequência. O banco não guarda coordenada.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160520"/>
            <a:ext cx="11064240" cy="1920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343400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F1C2E"/>
                </a:solidFill>
                <a:latin typeface="Georgia"/>
              </a:rPr>
              <a:t>Entra na busca só se as três valem ao mesmo tempo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937760"/>
            <a:ext cx="3246120" cy="713232"/>
          </a:xfrm>
          <a:prstGeom prst="roundRect">
            <a:avLst>
              <a:gd name="adj" fmla="val 40000"/>
            </a:avLst>
          </a:prstGeom>
          <a:solidFill>
            <a:srgbClr val="E6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102352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7466"/>
                </a:solidFill>
                <a:latin typeface="Arial"/>
              </a:rPr>
              <a:t>Disponível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4937760"/>
            <a:ext cx="3246120" cy="713232"/>
          </a:xfrm>
          <a:prstGeom prst="roundRect">
            <a:avLst>
              <a:gd name="adj" fmla="val 40000"/>
            </a:avLst>
          </a:prstGeom>
          <a:solidFill>
            <a:srgbClr val="FB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5102352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6E12"/>
                </a:solidFill>
                <a:latin typeface="Arial"/>
              </a:rPr>
              <a:t>Falou nos últimos 30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90688" y="4937760"/>
            <a:ext cx="3246120" cy="713232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0688" y="5102352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24A"/>
                </a:solidFill>
                <a:latin typeface="Arial"/>
              </a:rPr>
              <a:t>Não está em corrida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ALGORITMO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8368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0F1C2E"/>
                </a:solidFill>
                <a:latin typeface="Georgia"/>
              </a:rPr>
              <a:t>Achar quem está perto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81328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A7A"/>
                </a:solidFill>
                <a:latin typeface="Arial"/>
              </a:rPr>
              <a:t>Uma KD-Tree organiza as posições para não medir a cidade inteira.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194560"/>
            <a:ext cx="612648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Corta o mapa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523744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A árvore divide a cidade em regiões. A consulta descarta as que estão longe do embarque.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291839"/>
            <a:ext cx="612648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Devolve os mais perto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3621023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Até 10 motoristas dentro de 3 km, em linha reta. A ordem final, por tempo, vem depois.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4389120"/>
            <a:ext cx="612648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Não trava a 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718304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A árvore é refeita por trás. Quem consulta usa a cópia pronta, mais os GPS que chegaram depois.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691640"/>
            <a:ext cx="1829714" cy="1511503"/>
          </a:xfrm>
          <a:prstGeom prst="rect">
            <a:avLst/>
          </a:prstGeom>
          <a:solidFill>
            <a:srgbClr val="E4D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60920" y="3203143"/>
            <a:ext cx="1829714" cy="2466136"/>
          </a:xfrm>
          <a:prstGeom prst="rect">
            <a:avLst/>
          </a:prstGeom>
          <a:solidFill>
            <a:srgbClr val="D5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0634" y="1691640"/>
            <a:ext cx="1113739" cy="2307031"/>
          </a:xfrm>
          <a:prstGeom prst="rect">
            <a:avLst/>
          </a:prstGeom>
          <a:solidFill>
            <a:srgbClr val="FD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04373" y="1691640"/>
            <a:ext cx="1034186" cy="2307031"/>
          </a:xfrm>
          <a:prstGeom prst="rect">
            <a:avLst/>
          </a:prstGeom>
          <a:solidFill>
            <a:srgbClr val="E4D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90634" y="3998671"/>
            <a:ext cx="2147925" cy="1670608"/>
          </a:xfrm>
          <a:prstGeom prst="rect">
            <a:avLst/>
          </a:prstGeom>
          <a:solidFill>
            <a:srgbClr val="D5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1691640"/>
            <a:ext cx="3977639" cy="3977639"/>
          </a:xfrm>
          <a:prstGeom prst="rect">
            <a:avLst/>
          </a:prstGeom>
          <a:noFill/>
          <a:ln w="15875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97342" y="2407615"/>
            <a:ext cx="146304" cy="146304"/>
          </a:xfrm>
          <a:prstGeom prst="ellipse">
            <a:avLst/>
          </a:prstGeom>
          <a:solidFill>
            <a:srgbClr val="9AA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54212" y="4555540"/>
            <a:ext cx="146304" cy="146304"/>
          </a:xfrm>
          <a:prstGeom prst="ellipse">
            <a:avLst/>
          </a:prstGeom>
          <a:solidFill>
            <a:srgbClr val="9AA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02137" y="2566720"/>
            <a:ext cx="146304" cy="146304"/>
          </a:xfrm>
          <a:prstGeom prst="ellipse">
            <a:avLst/>
          </a:prstGeom>
          <a:solidFill>
            <a:srgbClr val="9AA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7056" y="4794199"/>
            <a:ext cx="146304" cy="146304"/>
          </a:xfrm>
          <a:prstGeom prst="ellipse">
            <a:avLst/>
          </a:prstGeom>
          <a:solidFill>
            <a:srgbClr val="9AA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48622" y="2566720"/>
            <a:ext cx="164592" cy="164592"/>
          </a:xfrm>
          <a:prstGeom prst="ellipse">
            <a:avLst/>
          </a:prstGeom>
          <a:solidFill>
            <a:srgbClr val="1C7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86162" y="3282696"/>
            <a:ext cx="164592" cy="164592"/>
          </a:xfrm>
          <a:prstGeom prst="ellipse">
            <a:avLst/>
          </a:prstGeom>
          <a:solidFill>
            <a:srgbClr val="1C7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67951" y="2884932"/>
            <a:ext cx="201168" cy="201168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5779008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A7A"/>
                </a:solidFill>
                <a:latin typeface="Arial"/>
              </a:rPr>
              <a:t>A região clara é a única que a consulta percorre.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APLICAÇÃO 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8368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0F1C2E"/>
                </a:solidFill>
                <a:latin typeface="Georgia"/>
              </a:rPr>
              <a:t>matching-service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4475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A7A"/>
                </a:solidFill>
                <a:latin typeface="Arial"/>
              </a:rPr>
              <a:t>Não grava corrida, não reserva motorista e não calcula rota.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240280"/>
            <a:ext cx="13716" cy="324612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2121408"/>
            <a:ext cx="292608" cy="292608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2140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CF8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0312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Recebe o pedido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14015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A7A"/>
                </a:solidFill>
                <a:latin typeface="Arial"/>
              </a:rPr>
              <a:t>Depois que a corrida já foi aceita.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2990088"/>
            <a:ext cx="292608" cy="292608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9900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CF8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7180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Busca candidatos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8269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A7A"/>
                </a:solidFill>
                <a:latin typeface="Arial"/>
              </a:rPr>
              <a:t>Quem está livre, perto, na classe pedida.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3858768"/>
            <a:ext cx="292608" cy="292608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5876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CF8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4048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Pede o tempo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5137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A7A"/>
                </a:solidFill>
                <a:latin typeface="Arial"/>
              </a:rPr>
              <a:t>Todos de uma vez, numa chamada só.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4727448"/>
            <a:ext cx="292608" cy="292608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274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CF8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70916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Publica a lista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02005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A7A"/>
                </a:solidFill>
                <a:latin typeface="Arial"/>
              </a:rPr>
              <a:t>Do mais rápido ao mais lento.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2103120"/>
            <a:ext cx="4160520" cy="3794760"/>
          </a:xfrm>
          <a:prstGeom prst="roundRect">
            <a:avLst>
              <a:gd name="adj" fmla="val 6000"/>
            </a:avLst>
          </a:prstGeom>
          <a:solidFill>
            <a:srgbClr val="FBF3E0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2359152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F1C2E"/>
                </a:solidFill>
                <a:latin typeface="Georgia"/>
              </a:rPr>
              <a:t>A lista vai inteira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291840"/>
            <a:ext cx="3611880" cy="2103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6"/>
                </a:solidFill>
                <a:latin typeface="Arial"/>
              </a:rPr>
              <a:t>O primeiro nome pode já estar em outra corrida. O segundo e o terceiro já vêm na mesma mensagem.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APLICAÇÃO 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8368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0F1C2E"/>
                </a:solidFill>
                <a:latin typeface="Georgia"/>
              </a:rPr>
              <a:t>routing-service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447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A7A"/>
                </a:solidFill>
                <a:latin typeface="Arial"/>
              </a:rPr>
              <a:t>Recebe coordenadas. Devolve tempo e distância. Não conhece corrida nem motorista.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5740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359152"/>
            <a:ext cx="420624" cy="54864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5176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F1C2E"/>
                </a:solidFill>
                <a:latin typeface="Georgia"/>
              </a:rPr>
              <a:t>Mapa na memória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88620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Cada réplica lê o mesmo arquivo na subida. Depois disso o mapa não muda.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05740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54296" y="2359152"/>
            <a:ext cx="420624" cy="54864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265176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F1C2E"/>
                </a:solidFill>
                <a:latin typeface="Georgia"/>
              </a:rPr>
              <a:t>Cresce com a CPU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88620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Começa em duas e vai até quatro. Não há estado para copiar entre elas.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205740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49056" y="2359152"/>
            <a:ext cx="420624" cy="54864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65176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F1C2E"/>
                </a:solidFill>
                <a:latin typeface="Georgia"/>
              </a:rPr>
              <a:t>Se lotar, tenta de novo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88620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Há um limite de buscas ao mesmo tempo. A réplica cheia pede para tentar outra.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ALGORITMO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8368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0F1C2E"/>
                </a:solidFill>
                <a:latin typeface="Georgia"/>
              </a:rPr>
              <a:t>Uma busca para todos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81328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A7A"/>
                </a:solidFill>
                <a:latin typeface="Arial"/>
              </a:rPr>
              <a:t>Dijkstra. Uma busca, não uma por motorista.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659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E09A2B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Começa no embarque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048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O cálculo sai do ponto de embarque e caminha pelas ruas até alcançar cada motorista.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39"/>
            <a:ext cx="9144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E09A2B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918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O custo é o tempo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3075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Uma rua mais curta pode ser mais lenta. Ganha quem chega antes, não quem está menos metros longe.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6177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E09A2B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617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Para cedo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056631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Assim que todos os candidatos foram alcançados. Quem ficou de fora volta como sem caminho.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81544" y="2615184"/>
            <a:ext cx="1234440" cy="457200"/>
          </a:xfrm>
          <a:prstGeom prst="line">
            <a:avLst/>
          </a:prstGeom>
          <a:ln w="22225">
            <a:solidFill>
              <a:srgbClr val="C8B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735824" y="3072384"/>
            <a:ext cx="1280160" cy="914400"/>
          </a:xfrm>
          <a:prstGeom prst="line">
            <a:avLst/>
          </a:prstGeom>
          <a:ln w="22225">
            <a:solidFill>
              <a:srgbClr val="C8B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35824" y="3986784"/>
            <a:ext cx="1417320" cy="457200"/>
          </a:xfrm>
          <a:prstGeom prst="line">
            <a:avLst/>
          </a:prstGeom>
          <a:ln w="22225">
            <a:solidFill>
              <a:srgbClr val="C8B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15984" y="3072384"/>
            <a:ext cx="1463040" cy="640080"/>
          </a:xfrm>
          <a:prstGeom prst="line">
            <a:avLst/>
          </a:prstGeom>
          <a:ln w="22225">
            <a:solidFill>
              <a:srgbClr val="C8B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153144" y="3712464"/>
            <a:ext cx="1325880" cy="731520"/>
          </a:xfrm>
          <a:prstGeom prst="line">
            <a:avLst/>
          </a:prstGeom>
          <a:ln w="22225">
            <a:solidFill>
              <a:srgbClr val="C8B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635240" y="2468880"/>
            <a:ext cx="292608" cy="292608"/>
          </a:xfrm>
          <a:prstGeom prst="ellipse">
            <a:avLst/>
          </a:prstGeom>
          <a:solidFill>
            <a:srgbClr val="1C7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89520" y="3840480"/>
            <a:ext cx="292608" cy="292608"/>
          </a:xfrm>
          <a:prstGeom prst="ellipse">
            <a:avLst/>
          </a:prstGeom>
          <a:solidFill>
            <a:srgbClr val="1C7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0" y="5394960"/>
            <a:ext cx="292608" cy="292608"/>
          </a:xfrm>
          <a:prstGeom prst="ellipse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69680" y="2926080"/>
            <a:ext cx="292608" cy="292608"/>
          </a:xfrm>
          <a:prstGeom prst="ellipse">
            <a:avLst/>
          </a:prstGeom>
          <a:solidFill>
            <a:srgbClr val="C5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06840" y="4297680"/>
            <a:ext cx="292608" cy="292608"/>
          </a:xfrm>
          <a:prstGeom prst="ellipse">
            <a:avLst/>
          </a:prstGeom>
          <a:solidFill>
            <a:srgbClr val="C5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0" y="3566160"/>
            <a:ext cx="347472" cy="347472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1874519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A7A"/>
                </a:solidFill>
                <a:latin typeface="Arial"/>
              </a:rPr>
              <a:t>motoristas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404164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6E12"/>
                </a:solidFill>
                <a:latin typeface="Arial"/>
              </a:rPr>
              <a:t>embarque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8338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A7A"/>
                </a:solidFill>
                <a:latin typeface="Arial"/>
              </a:rPr>
              <a:t>O ponto coral não tem rua até o embarque.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PLANO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8368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0F1C2E"/>
                </a:solidFill>
                <a:latin typeface="Georgia"/>
              </a:rPr>
              <a:t>Se o mapa não responder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81328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A7A"/>
                </a:solidFill>
                <a:latin typeface="Arial"/>
              </a:rPr>
              <a:t>A corrida continua. O tempo passa a ser uma estimativa.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286000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Linha reta, não rua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633472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A distância direta entre o motorista e o embarque, dividida por 30 km/h.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429000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Quando entra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3776472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O routing caiu, ou falhou várias vezes seguidas. Aí o matching nem insiste.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4572000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Fica visível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919472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A resposta marca que aquele tempo não veio do mapa.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965960"/>
            <a:ext cx="4160520" cy="39319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2860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60">
                <a:solidFill>
                  <a:srgbClr val="A86E12"/>
                </a:solidFill>
                <a:latin typeface="Arial"/>
              </a:rPr>
              <a:t>A CONTA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880360"/>
            <a:ext cx="3611880" cy="2011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0F1C2E"/>
                </a:solidFill>
                <a:latin typeface="Georgia"/>
              </a:rPr>
              <a:t>linha reta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0F1C2E"/>
                </a:solidFill>
                <a:latin typeface="Georgia"/>
              </a:rPr>
              <a:t>÷  30 km/h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7492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A7A"/>
                </a:solidFill>
                <a:latin typeface="Arial"/>
              </a:rPr>
              <a:t>Nome do cálculo: Haversine.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INFRAESTRUTURA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8368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0F1C2E"/>
                </a:solidFill>
                <a:latin typeface="Georgia"/>
              </a:rPr>
              <a:t>O que fica em volta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65960"/>
            <a:ext cx="2697480" cy="40690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04288"/>
            <a:ext cx="146304" cy="146304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21284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Kubernetes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88920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9A2B"/>
                </a:solidFill>
                <a:latin typeface="Arial"/>
              </a:rPr>
              <a:t>A escala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29184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Ride e driver ficam em um pod. Matching e routing crescem quando a CPU passa de 60%.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1965960"/>
            <a:ext cx="2697480" cy="40690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85032" y="2304288"/>
            <a:ext cx="146304" cy="146304"/>
          </a:xfrm>
          <a:prstGeom prst="ellipse">
            <a:avLst/>
          </a:prstGeom>
          <a:solidFill>
            <a:srgbClr val="1C7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41064" y="221284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788920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7466"/>
                </a:solidFill>
                <a:latin typeface="Arial"/>
              </a:rPr>
              <a:t>O aviso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29184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A busca começa depois do aceite. Um serviço não fica preso esperando o outro.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1965960"/>
            <a:ext cx="2697480" cy="40690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304288"/>
            <a:ext cx="146304" cy="146304"/>
          </a:xfrm>
          <a:prstGeom prst="ellipse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1424" y="221284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788920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324A"/>
                </a:solidFill>
                <a:latin typeface="Arial"/>
              </a:rPr>
              <a:t>O registro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29184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Corrida e cadastro do motorista. É o que não pode sumir.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08008" y="1965960"/>
            <a:ext cx="2697480" cy="40690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45752" y="2304288"/>
            <a:ext cx="146304" cy="146304"/>
          </a:xfrm>
          <a:prstGeom prst="ellipse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01784" y="221284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788920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5C4A"/>
                </a:solidFill>
                <a:latin typeface="Arial"/>
              </a:rPr>
              <a:t>O atalho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329184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6"/>
                </a:solidFill>
                <a:latin typeface="Arial"/>
              </a:rPr>
              <a:t>Reserva rápida e pedido repetido. Expira sozinho. Não é a fonte da verdade.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ONDE CADA DADO MORA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8368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0F1C2E"/>
                </a:solidFill>
                <a:latin typeface="Georgia"/>
              </a:rPr>
              <a:t>O que sobrevive a uma queda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176272"/>
            <a:ext cx="164592" cy="164592"/>
          </a:xfrm>
          <a:prstGeom prst="ellipse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1883664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Corrida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249424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9A2B"/>
                </a:solidFill>
                <a:latin typeface="Arial"/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938528"/>
            <a:ext cx="7132320" cy="6583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Se o ride cair, o pedido continua no banco. O aviso pendente é publicado de novo.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07791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346703"/>
            <a:ext cx="164592" cy="164592"/>
          </a:xfrm>
          <a:prstGeom prst="ellipse">
            <a:avLst/>
          </a:prstGeom>
          <a:solidFill>
            <a:srgbClr val="1C7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054096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Posição agora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419856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7466"/>
                </a:solidFill>
                <a:latin typeface="Arial"/>
              </a:rPr>
              <a:t>Memória + Kafka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108960"/>
            <a:ext cx="7132320" cy="6583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Pode sumir por segundos. Os últimos 5 minutos de GPS reconstroem o índice.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78224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517136"/>
            <a:ext cx="164592" cy="164592"/>
          </a:xfrm>
          <a:prstGeom prst="ellipse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224528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Mapa de ruas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590288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5C4A"/>
                </a:solidFill>
                <a:latin typeface="Arial"/>
              </a:rPr>
              <a:t>Arquivo, em cada réplica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279392"/>
            <a:ext cx="7132320" cy="6583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Uma réplica fora não para o sistema. A outra tem o mesmo mapa.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8656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5687568"/>
            <a:ext cx="164592" cy="164592"/>
          </a:xfrm>
          <a:prstGeom prst="ellipse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394960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C2E"/>
                </a:solidFill>
                <a:latin typeface="Arial"/>
              </a:rPr>
              <a:t>Atalhos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760720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324A"/>
                </a:solidFill>
                <a:latin typeface="Arial"/>
              </a:rPr>
              <a:t>Redis, com prazo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449824"/>
            <a:ext cx="7132320" cy="6583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Se o Redis cair, a corrida e o cadastro seguem. O banco segura a verdade.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73952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nearby-drivers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4710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A7A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02336"/>
            <a:ext cx="256032" cy="3200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4747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86E12"/>
                </a:solidFill>
                <a:latin typeface="Arial"/>
              </a:rPr>
              <a:t>QUANDO ALGO REPETE OU FALHA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8368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0F1C2E"/>
                </a:solidFill>
                <a:latin typeface="Georgia"/>
              </a:rPr>
              <a:t>O sistema não faz duas vezes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5257800" cy="1920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075688"/>
            <a:ext cx="384048" cy="5486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25856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Mesmo pedido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788920"/>
            <a:ext cx="470916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A mesma chave devolve a mesma corrida. Não nasce um segundo pedido.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83080"/>
            <a:ext cx="5257800" cy="1920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47688" y="2075688"/>
            <a:ext cx="384048" cy="5486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225856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Mesma mensagem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788920"/>
            <a:ext cx="470916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Chegar de novo não atribui outra vez, nem cria outro motorista.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86200"/>
            <a:ext cx="5257800" cy="1920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9536" y="4178808"/>
            <a:ext cx="384048" cy="5486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36168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Motorista some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892040"/>
            <a:ext cx="470916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Ele sai da corrida. A busca recomeça sem ele, até o limite de tentativas.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86200"/>
            <a:ext cx="5257800" cy="1920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47688" y="4178808"/>
            <a:ext cx="384048" cy="54864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436168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F1C2E"/>
                </a:solidFill>
                <a:latin typeface="Georgia"/>
              </a:rPr>
              <a:t>Mapa indisponível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4892040"/>
            <a:ext cx="470916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6"/>
                </a:solidFill>
                <a:latin typeface="Arial"/>
              </a:rPr>
              <a:t>O tempo cai para a linha reta. A atribuição continua.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4652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5D0DB"/>
                </a:solidFill>
                <a:latin typeface="Arial"/>
              </a:rPr>
              <a:t>nearby-drivers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644652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5D0DB"/>
                </a:solidFill>
                <a:latin typeface="Arial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54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20">
                <a:solidFill>
                  <a:srgbClr val="E09A2B"/>
                </a:solidFill>
                <a:latin typeface="Arial"/>
              </a:rPr>
              <a:t>NEARBY-DRIVERS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011680"/>
            <a:ext cx="10058400" cy="3108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CF8"/>
                </a:solidFill>
                <a:latin typeface="Georgia"/>
              </a:rPr>
              <a:t>Quem está livre.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CF8"/>
                </a:solidFill>
                <a:latin typeface="Georgia"/>
              </a:rPr>
              <a:t>Quem chega antes.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CF8"/>
                </a:solidFill>
                <a:latin typeface="Georgia"/>
              </a:rPr>
              <a:t>Em quanto tempo.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nearby-drivers</dc:title>
  <dc:subject>Como o sistema encontra o motorista mais próximo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Apresentação</cp:category>
</cp:coreProperties>
</file>